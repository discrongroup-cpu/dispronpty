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5A059"/>
                </a:solidFill>
                <a:latin typeface="Segoe UI"/>
              </a:defRPr>
            </a:pPr>
            <a:r>
              <a:t>ALFRED - Centro de Mando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Plataforma de agentes de IA adaptada a DISPRON GROUP: frontend (HUD) y backend (motor de habilidades)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Sub-agentes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Habilidades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Canales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Idiomas ES/EN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Datos inventados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50/50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Tests E2E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Que es Alfred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4212E"/>
                </a:solidFill>
                <a:latin typeface="Segoe UI"/>
              </a:defRPr>
            </a:pPr>
            <a:r>
              <a:t>Alfred es el mayordomo digital de DISPRON GROUP. No es un chatbot decorativo: es un centro de mando donde 12 sub-agentes especializados ejecutan 30 habilidades reales contra el CRM y el sitio. Opera en espanol e ingles, se dirige al usuario como Jefe Maestro y nunca inventa un dato.</a:t>
            </a:r>
          </a:p>
        </p:txBody>
      </p:sp>
      <p:pic>
        <p:nvPicPr>
          <p:cNvPr id="5" name="Picture 4" descr="al-0-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5669280" cy="629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7432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Acceso: solo usuarios activos del CRM (/crm)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Consola + pestanas: habilidades, sub-agentes, politicas y memoria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Telemetria en vivo: ejecuciones, memoria, tickets, ultima actividad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Confirmacion obligatoria para acciones de riesgo MEDIUM+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Idioma: espanol (es-PA) e ingles (Hugo)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Adaptado a DISPRON: sectores, servicios y provincias de Panama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Frontend - HUD de tres columnas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1-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SEC-CORE (izquierda): identidad y los 12 sub-agentes con color propio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SEC-CONSOLE (centro): conversacion, chips de accion rapida y campo de ordenes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SEC-TELEMETRY (derecha): habilidades, agentes, ejecuciones, memoria y tickets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Paleta DISPRON: azul marino #0B1F33 y oro #C5A059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Esquinas achaflanadas, tipografia Segoe UI, jerarquia visual clara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Cierre con Escape; widget de Sofia oculto dentro del CRM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Boton flotante (fab) para abrir el panel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Dictado por microfono (boton MIC) con transcripcion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Backend - Arquitectura del motor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alfred/agents.js - 12 sub-agentes (id, nombre, rol ES/EN, color, categoria, keywords)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alfred/engine.js - 30 habilidades reales con dueno, riesgo y handler async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alfred/core.js - scoring de leads (A/B/C) y normalizacion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server.js - rutas POST /api/alfred/chat y /api/alfred/tool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Rate limit: 60 peticiones por minuto por sesion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Persistencia: data/db.json (usuarios, leads, memoria, tickets, auditoria)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Router de intencion: expresion regular -&gt; agente (30 patrones ES)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Delegacion: Alfred enruta al sub-agente competente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Politica de riesgo: LOW ejecuta; MEDIUM exige confirmacion expresa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Registro de auditoria: agente, herramienta, hora, duracion y estado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Respuestas verificables: sin telefono, rating ni certificacion inventada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Datos pendientes se marcan PENDIENTE_DE_VALIDAR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3"/>
                </a:solidFill>
                <a:latin typeface="Segoe UI"/>
              </a:defRPr>
            </a:pPr>
            <a:r>
              <a:t>Sub-agentes 1 al 4 de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645920"/>
            <a:ext cx="292608" cy="292608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C9F0"/>
                </a:solidFill>
                <a:latin typeface="Segoe UI"/>
              </a:defRPr>
            </a:pPr>
            <a:r>
              <a:t>Arquitecto de 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Arquitectura y Diseno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1 habilidades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Mapa de arquitectura (Mermaid)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645920"/>
            <a:ext cx="292608" cy="292608"/>
          </a:xfrm>
          <a:prstGeom prst="ellipse">
            <a:avLst/>
          </a:prstGeom>
          <a:solidFill>
            <a:srgbClr val="7BD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DFF2"/>
                </a:solidFill>
                <a:latin typeface="Segoe UI"/>
              </a:defRPr>
            </a:pPr>
            <a:r>
              <a:t>Ingeniera de 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Ingenieria y Calidad de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1 habilidades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Salud del sitio (páginas, imágenes, enlaces)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645920"/>
            <a:ext cx="292608" cy="292608"/>
          </a:xfrm>
          <a:prstGeom prst="ellipse">
            <a:avLst/>
          </a:prstGeom>
          <a:solidFill>
            <a:srgbClr val="9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Leonardo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8CFF"/>
                </a:solidFill>
                <a:latin typeface="Segoe UI"/>
              </a:defRPr>
            </a:pPr>
            <a:r>
              <a:t>Integraciones y Datos Estructurados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Integracion, APIs y JSON-LD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2 habilidades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Previsualizar JSON-LD de una página, Generar spec OpenAPI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0" y="1645920"/>
            <a:ext cx="292608" cy="292608"/>
          </a:xfrm>
          <a:prstGeom prst="ellipse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Victoria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5A059"/>
                </a:solidFill>
                <a:latin typeface="Segoe UI"/>
              </a:defRPr>
            </a:pPr>
            <a:r>
              <a:t>Analista de Datos, SEO y GEO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Analitica, SEO y GEO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3 habilidades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Reporte de pipeline y pronóstico, Auditoría SEO/GEO real del sitio, Plan para posicionar #1 por servicio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3"/>
                </a:solidFill>
                <a:latin typeface="Segoe UI"/>
              </a:defRPr>
            </a:pPr>
            <a:r>
              <a:t>Sub-agentes 5 al 8 de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645920"/>
            <a:ext cx="292608" cy="2926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Marcus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A261"/>
                </a:solidFill>
                <a:latin typeface="Segoe UI"/>
              </a:defRPr>
            </a:pPr>
            <a:r>
              <a:t>Director de Ventas y Crecimiento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Ventas, Prospeccion y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6 habilidades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Calificar leads (score A/B/C), Próxima mejor acción, Redactar seguimiento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645920"/>
            <a:ext cx="292608" cy="292608"/>
          </a:xfrm>
          <a:prstGeom prst="ellipse">
            <a:avLst/>
          </a:prstGeom>
          <a:solidFill>
            <a:srgbClr val="80E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Webb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ED99"/>
                </a:solidFill>
                <a:latin typeface="Segoe UI"/>
              </a:defRPr>
            </a:pPr>
            <a:r>
              <a:t>Operaciones y 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Infraestructura y Operacion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3 habilidades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Estado del entorno, Respaldar la base de datos, Lista de verificación de despliegue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645920"/>
            <a:ext cx="292608" cy="292608"/>
          </a:xfrm>
          <a:prstGeom prst="ellipse">
            <a:avLst/>
          </a:prstGeom>
          <a:solidFill>
            <a:srgbClr val="FF8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Grace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FAB"/>
                </a:solidFill>
                <a:latin typeface="Segoe UI"/>
              </a:defRPr>
            </a:pPr>
            <a:r>
              <a:t>Atencion al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Atencion y Soporte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3 habilidades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Crear ticket, Buscar en FAQs y guías, Escalar caso urgente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0" y="1645920"/>
            <a:ext cx="292608" cy="292608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Fortress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76F"/>
                </a:solidFill>
                <a:latin typeface="Segoe UI"/>
              </a:defRPr>
            </a:pPr>
            <a:r>
              <a:t>Seguridad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Ciberseguridad y Cumplimiento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2 habilidades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Auditoría de seguridad de la plataforma, Detectar leads sospechosos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F33"/>
                </a:solidFill>
                <a:latin typeface="Segoe UI"/>
              </a:defRPr>
            </a:pPr>
            <a:r>
              <a:t>Sub-agentes 9 al 12 de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645920"/>
            <a:ext cx="292608" cy="292608"/>
          </a:xfrm>
          <a:prstGeom prst="ellipse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9ECEF"/>
                </a:solidFill>
                <a:latin typeface="Segoe UI"/>
              </a:defRPr>
            </a:pPr>
            <a:r>
              <a:t>Documentacion y Propuestas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Documentacion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2 habilidades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Propuesta técnico-comercial (HTML), Checklist de visita técnica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645920"/>
            <a:ext cx="292608" cy="29260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Sterling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166"/>
                </a:solidFill>
                <a:latin typeface="Segoe UI"/>
              </a:defRPr>
            </a:pPr>
            <a:r>
              <a:t>Constructor de Producto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Lanzamiento de Producto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1 habilidades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Checklist de lanzamiento (datos pendientes)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645920"/>
            <a:ext cx="292608" cy="292608"/>
          </a:xfrm>
          <a:prstGeom prst="ellipse">
            <a:avLst/>
          </a:prstGeom>
          <a:solidFill>
            <a:srgbClr val="B51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Minerva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179E"/>
                </a:solidFill>
                <a:latin typeface="Segoe UI"/>
              </a:defRPr>
            </a:pPr>
            <a:r>
              <a:t>Memoria y Contexto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Memoria y Contexto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4 habilidades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Guardar en memoria, Buscar en memoria, Resumen de una oportunidad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2651760" cy="4206240"/>
          </a:xfrm>
          <a:prstGeom prst="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0" y="1645920"/>
            <a:ext cx="292608" cy="292608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Hugo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8CAE4"/>
                </a:solidFill>
                <a:latin typeface="Segoe UI"/>
              </a:defRPr>
            </a:pPr>
            <a:r>
              <a:t>Comunicacion Bilingue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43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Comunicacion ES/EN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2 habilidades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023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Detectar idioma, Presentación comercial ES/EN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30 habilidades reales - riesgo y ejecucion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27 de ejecucion directa (LOW)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lead_scoring (marcus)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next_best_action (marcus)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followup_draft (marcus)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prospecting_plan (marcus)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campaign_brief (marcus)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pipeline_report (victoria)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seo_audit (victoria)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geo_ranking_plan (victoria)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jsonld_preview (leonardo)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openapi_spec (leonardo)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site_health (ada)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architecture_map (thomas)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env_status (webb)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deploy_checklist (webb)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3 con confirmacion expresa (MEDIUM)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move_stage - Mover oportunidad de etapa (marcus)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backup_db - Respaldar la base de datos (webb)</a:t>
            </a:r>
          </a:p>
          <a:p>
            <a:pPr>
              <a:spcAft>
                <a:spcPts val="400"/>
              </a:spcAft>
              <a:defRPr sz="1100">
                <a:solidFill>
                  <a:srgbClr val="14212E"/>
                </a:solidFill>
                <a:latin typeface="Segoe UI"/>
              </a:defRPr>
            </a:pPr>
            <a:r>
              <a:t>• escalate_case - Escalar caso urgente (grace)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Caso real - Calificacion de leads (Marcus)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1-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MARCUS - Calificar leads (score A/B/C)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Banco General -&gt; B - 53 puntos (mantenimiento integral)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Torre BAC -&gt; C - 41 (electricidad)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Hotel Riu Plaza -&gt; C - 41 (plomeria)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Coca-Cola Femsa -&gt; C - 33 (soporte industrial)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PH Ocean Reserve -&gt; C - 33 (restauracion)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Criterios: urgencia, valor, sector recurrente, contacto y frescura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Grado A &gt;=70 - B &gt;=45 - C &lt;45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Caso real - Reporte de pipeline (Victoria)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7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VICTORIA - Reporte de pipeline y pronostico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Total: 5 leads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Pipeline abierto: B/. 214.500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Adjudicado: B/. 0 - Tasa de cierre: 0%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Pronostico ponderado: B/. 21.450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Por etapa: Nuevo Lead 5 (B/. 214.500); resto en 0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Probabilidad por etapa aplicada al pronostico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Cifras reales de data/db.json, no estimadas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Politica de confirmacion (riesgo MEDIUM)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5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He delegado esto a Marcus. Esta accion modifica datos reales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(Mover oportunidad de etapa, riesgo MEDIUM).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Marcus la ejecutara solo con su confirmacion expresa, Jefe Maestro.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Botones: CONFIRMAR, EJECUTAR / CANCELAR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Nada se modifica sin aprobacion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Tras confirmar: Banco General Nuevo Lead -&gt; En negociacion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Auditoria: agente, herramienta, hora y estado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Tras confirmar - Ejecucion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6-m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Resultado verificado en el CRM: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Entendido, Jefe Maestro.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Banco General: Nuevo Lead -&gt; En negociacion.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Etapa confirmada en la base de datos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Telemetria: ejecuciones 2, ultima actividad Marcus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Drag &amp; drop manual del tablero tambien disponible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Fortress - Auditoria de seguridad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4-for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FORTRESS - Seguridad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Comprueba encabezados reales del servidor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Detecta cuentas pendientes de aprobacion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Recomienda 2FA y HSTS como pendientes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Honesto: reporta lo que falta, sin prometer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Victoria - SEO y GEO con datos medibles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8-s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Audita cada pagina: titulo, descripcion, H1, canonical, JSON-LD, alt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Puntaje tecnico calculado sobre paginas reales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No mide posiciones: honestidad explicita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Detecta brechas: telefono validado, NAP, licencias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llms.txt, robots para bots de IA y knowledge.json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Leonardo - JSON-LD por ruta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9-json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Previsualiza el JSON-LD real de cualquier ruta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Tipos: Organization, Service, FAQPage, BreadcrumbList, ImageGallery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/servicios/soporte-industrial verificado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Datos estructurados para Google y para GPTs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Marcus - Plan de prospeccion por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-10-pro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650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Plan para bancos, hoteles, PH, eventos e industria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Segmenta por provincia de Panama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Acciones concretas de captacion</a:t>
            </a:r>
          </a:p>
          <a:p>
            <a:pPr>
              <a:spcAft>
                <a:spcPts val="400"/>
              </a:spcAft>
              <a:defRPr sz="1300">
                <a:solidFill>
                  <a:srgbClr val="14212E"/>
                </a:solidFill>
                <a:latin typeface="Segoe UI"/>
              </a:defRPr>
            </a:pPr>
            <a:r>
              <a:t>• Sin promesas de resultados garantizados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Segoe UI"/>
              </a:defRPr>
            </a:pPr>
            <a:r>
              <a:t>Politicas de verdad (adaptado a DISPRON)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Nada inventado: sin clientes, premios, certificaciones ni primer lugar ficticio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Contacto, licencias, NAP y SLA: PENDIENTE_DE_VALIDAR hasta que los valide el cliente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Ebanisteria usa fotos de acabados interiores hasta recibir fotos propias de carpinteria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Victoria declara explicitamente que no mide posiciones de Google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Fortress reporta lo que falta (2FA, HSTS) en lugar de afirmar que esta listo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Toda habilidad ejecuta contra datos reales; si algo no existe, Alfred lo dice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Registro de auditoria inmutable por ejecucion</a:t>
            </a:r>
          </a:p>
          <a:p>
            <a:pPr>
              <a:spcAft>
                <a:spcPts val="400"/>
              </a:spcAft>
              <a:defRPr sz="1400">
                <a:solidFill>
                  <a:srgbClr val="14212E"/>
                </a:solidFill>
                <a:latin typeface="Segoe UI"/>
              </a:defRPr>
            </a:pPr>
            <a:r>
              <a:t>• Acceso restringido: usuarios pendientes no pueden usar Alfred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5A059"/>
                </a:solidFill>
                <a:latin typeface="Segoe UI"/>
              </a:defRPr>
            </a:pPr>
            <a:r>
              <a:t>Verificacion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50/50 comprobaciones E2E con Playwright + Edge (sin errores JS)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Verificado en esta sesion: login -&gt; CRM -&gt; HUD -&gt; 11 capturas con acciones reales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lead_scoring ejecutado: 5 leads con grado B/C y puntos reales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pipeline_report ejecutado: B/. 214.500 y pronostico B/. 21.450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move_stage con confirmacion: Banco General movido a En negociacion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security_audit, seo_audit, jsonld_preview y prospecting_plan verificados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Siempre Jefe Maestro - sin emojis - bilingue ES/EN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12 sub-agentes y 30 habilidades confirmados en su pestana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5A059"/>
                </a:solidFill>
                <a:latin typeface="Segoe UI"/>
              </a:defRPr>
            </a:pPr>
            <a:r>
              <a:t>ALFRED - DISPRON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Un mayordomo digital para gobernar la operacion comercial con datos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Sub-agentes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Habilidades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5A05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Real, no simulado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